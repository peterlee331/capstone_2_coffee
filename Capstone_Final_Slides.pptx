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5" autoAdjust="0"/>
    <p:restoredTop sz="78031" autoAdjust="0"/>
  </p:normalViewPr>
  <p:slideViewPr>
    <p:cSldViewPr snapToGrid="0">
      <p:cViewPr varScale="1">
        <p:scale>
          <a:sx n="101" d="100"/>
          <a:sy n="101" d="100"/>
        </p:scale>
        <p:origin x="71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4C8282-7D3D-40C1-BFCF-1304E3E5B98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7151E-9EF4-42A1-9453-1F831BFCE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21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I’ll be presenting an analysis of coffee shop sales data to evaluate whether a 2 to 4 percent increase in sales is achievable for 2026.</a:t>
            </a:r>
            <a:br>
              <a:rPr lang="en-US" dirty="0"/>
            </a:br>
            <a:r>
              <a:rPr lang="en-US" dirty="0"/>
              <a:t>The goal is to use historical data and modeling to support a data-driven business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64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coffee shop is preparing its 2026 budget and wants to determine whether increasing sales by 2 to 4 percent is realistic.</a:t>
            </a:r>
            <a:br>
              <a:rPr lang="en-US" dirty="0"/>
            </a:br>
            <a:r>
              <a:rPr lang="en-US" dirty="0"/>
              <a:t>Instead of relying on assumptions, they want a data-driven answer based on past performance and predictive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87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transaction-level sales data from March 2024 to March 2025.</a:t>
            </a:r>
            <a:br>
              <a:rPr lang="en-US" dirty="0"/>
            </a:br>
            <a:r>
              <a:rPr lang="en-US" dirty="0"/>
              <a:t>Each row represents a single purchase, and the key variable is revenue per transaction.</a:t>
            </a:r>
            <a:br>
              <a:rPr lang="en-US" dirty="0"/>
            </a:br>
            <a:r>
              <a:rPr lang="en-US" dirty="0"/>
              <a:t>This allows us to analyze both customer behavior and revenue patterns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64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followed a standard data science workflow, starting with cleaning the data, then exploring patterns, building predictive models, and finally translating the results into business recommendations.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6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shows the distribution of revenue per transaction.</a:t>
            </a:r>
            <a:br>
              <a:rPr lang="en-US" dirty="0"/>
            </a:br>
            <a:r>
              <a:rPr lang="en-US" dirty="0"/>
              <a:t>Most purchases fall within a moderate price range, but there are fewer high-value transactions that extend the upper end.</a:t>
            </a:r>
            <a:br>
              <a:rPr lang="en-US" dirty="0"/>
            </a:br>
            <a:r>
              <a:rPr lang="en-US" dirty="0"/>
              <a:t>This is important because it tells us that while most customers spend similar amounts, premium drinks contribute disproportionately to total revenue.</a:t>
            </a:r>
            <a:br>
              <a:rPr lang="en-US" dirty="0"/>
            </a:br>
            <a:r>
              <a:rPr lang="en-US" dirty="0"/>
              <a:t>This becomes a key factor when thinking about growth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85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we break revenue down by product, we see that certain drinks—especially lattes, Americano with milk, and cappuccinos—generate significantly more revenue than others.</a:t>
            </a:r>
            <a:br>
              <a:rPr lang="en-US" dirty="0"/>
            </a:br>
            <a:r>
              <a:rPr lang="en-US" dirty="0"/>
              <a:t>In contrast, drinks like espresso contribute much less per transaction.</a:t>
            </a:r>
            <a:br>
              <a:rPr lang="en-US" dirty="0"/>
            </a:br>
            <a:r>
              <a:rPr lang="en-US" dirty="0"/>
              <a:t>This tells us that product type is the strongest driver of revenue differences.</a:t>
            </a:r>
            <a:br>
              <a:rPr lang="en-US" dirty="0"/>
            </a:br>
            <a:r>
              <a:rPr lang="en-US" dirty="0"/>
              <a:t>From a business perspective, this is powerful because increasing sales of high-value drinks can directly impact total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29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peak during the morning and early afternoon, which aligns with typical coffee consumption patterns.</a:t>
            </a:r>
            <a:br>
              <a:rPr lang="en-US" dirty="0"/>
            </a:br>
            <a:r>
              <a:rPr lang="en-US" dirty="0"/>
              <a:t>While time of day does influence sales, its impact is smaller compared to product type.</a:t>
            </a:r>
            <a:br>
              <a:rPr lang="en-US" dirty="0"/>
            </a:br>
            <a:r>
              <a:rPr lang="en-US" dirty="0"/>
              <a:t>This suggests that timing matters—but what customers buy matters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77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 monthly revenue, we see fluctuations over time, indicating seasonality.</a:t>
            </a:r>
            <a:br>
              <a:rPr lang="en-US" dirty="0"/>
            </a:br>
            <a:r>
              <a:rPr lang="en-US" dirty="0"/>
              <a:t>Some months perform better than others, while certain periods show noticeable dips.</a:t>
            </a:r>
            <a:br>
              <a:rPr lang="en-US" dirty="0"/>
            </a:br>
            <a:r>
              <a:rPr lang="en-US" dirty="0"/>
              <a:t>This is important because it means growth is not purely linear—seasonal declines can offset gains.</a:t>
            </a:r>
            <a:br>
              <a:rPr lang="en-US" dirty="0"/>
            </a:br>
            <a:r>
              <a:rPr lang="en-US" dirty="0"/>
              <a:t>Any growth strategy needs to account for this variability.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10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predict revenue, I tested multiple models including Linear Regression, Ridge Regression, and Random Forest.</a:t>
            </a:r>
            <a:br>
              <a:rPr lang="en-US" dirty="0"/>
            </a:br>
            <a:r>
              <a:rPr lang="en-US" dirty="0"/>
              <a:t>The goal was to find the most accurate and reliable model for this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49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results show that Linear Regression and Ridge Regression performed almost identically, with very low error.</a:t>
            </a:r>
            <a:br>
              <a:rPr lang="en-US" dirty="0"/>
            </a:br>
            <a:r>
              <a:rPr lang="en-US" dirty="0"/>
              <a:t>Random Forest performed worse and showed more variability.</a:t>
            </a:r>
            <a:br>
              <a:rPr lang="en-US" dirty="0"/>
            </a:br>
            <a:r>
              <a:rPr lang="en-US" dirty="0"/>
              <a:t>This indicates that the relationships in the data are largely linear, meaning a simpler model works just as well as more complex ones.</a:t>
            </a:r>
            <a:br>
              <a:rPr lang="en-US" dirty="0"/>
            </a:br>
            <a:r>
              <a:rPr lang="en-US" dirty="0"/>
              <a:t>Because of this, Linear Regression was selected as the final model due to its simplicity and interpretability.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41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compares current performance, predicted revenue, and the target range.</a:t>
            </a:r>
            <a:br>
              <a:rPr lang="en-US" dirty="0"/>
            </a:br>
            <a:r>
              <a:rPr lang="en-US" dirty="0"/>
              <a:t>The model shows that current revenue is stable and predictable, but it does not naturally reach the 2 to 4 percent growth target.</a:t>
            </a:r>
            <a:br>
              <a:rPr lang="en-US" dirty="0"/>
            </a:br>
            <a:r>
              <a:rPr lang="en-US" dirty="0"/>
              <a:t>There is a gap of about 170 to 340 dollars per month.</a:t>
            </a:r>
            <a:br>
              <a:rPr lang="en-US" dirty="0"/>
            </a:br>
            <a:r>
              <a:rPr lang="en-US" dirty="0"/>
              <a:t>This means growth will not happen automatically—but the gap is relatively small.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05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analysis, the growth target is achievable, but it requires deliberate action.</a:t>
            </a:r>
            <a:br>
              <a:rPr lang="en-US" dirty="0"/>
            </a:br>
            <a:r>
              <a:rPr lang="en-US" dirty="0"/>
              <a:t>The most effective strategy is to promote high-value drinks like lattes, americano with milk and cappuccinos.</a:t>
            </a:r>
            <a:br>
              <a:rPr lang="en-US" dirty="0"/>
            </a:br>
            <a:r>
              <a:rPr lang="en-US" dirty="0"/>
              <a:t>Additionally, optimizing operations during peak hours can maximize revenue, and addressing seasonal dips can stabilize performance throughout the year.</a:t>
            </a:r>
          </a:p>
          <a:p>
            <a:endParaRPr lang="en-US" dirty="0"/>
          </a:p>
          <a:p>
            <a:r>
              <a:rPr lang="en-US" b="0" dirty="0"/>
              <a:t>Only ~$170–$340/month increase needed</a:t>
            </a:r>
          </a:p>
          <a:p>
            <a:r>
              <a:rPr lang="en-US" b="0" dirty="0"/>
              <a:t>~1–3 extra high-value drinks/day </a:t>
            </a:r>
          </a:p>
          <a:p>
            <a:endParaRPr lang="en-US" dirty="0"/>
          </a:p>
          <a:p>
            <a:r>
              <a:rPr lang="en-US" dirty="0"/>
              <a:t>The most important takeaway is that the required growth is relatively small.</a:t>
            </a:r>
            <a:br>
              <a:rPr lang="en-US" dirty="0"/>
            </a:br>
            <a:r>
              <a:rPr lang="en-US" dirty="0"/>
              <a:t>It can be achieved by selling just one to three additional high-value drinks per day.</a:t>
            </a:r>
            <a:br>
              <a:rPr lang="en-US" dirty="0"/>
            </a:br>
            <a:r>
              <a:rPr lang="en-US" dirty="0"/>
              <a:t>This makes the target realistic and actionable from a business perspective.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1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could improve this analysis by incorporating time series forecasting, customer-level insights, and pricing strategies to further optimize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151E-9EF4-42A1-9453-1F831BFCE0A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35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67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775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6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0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48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6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40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9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7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28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5732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60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1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05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1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2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16AE520-6092-4CFA-BF2C-882FA1C4D5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DA1C1E0-2E63-4742-A214-A73A8C73E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56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8D747-54D3-4ACF-CDC8-E34B341E70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Coffee Shop Sales Forecasting &amp; Growth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66329-D22B-5775-AF2F-6D00295EF5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Peter Lee</a:t>
            </a:r>
          </a:p>
          <a:p>
            <a:r>
              <a:rPr lang="en-US" dirty="0"/>
              <a:t>Springboard Data Science Student</a:t>
            </a:r>
          </a:p>
        </p:txBody>
      </p:sp>
    </p:spTree>
    <p:extLst>
      <p:ext uri="{BB962C8B-B14F-4D97-AF65-F5344CB8AC3E}">
        <p14:creationId xmlns:p14="http://schemas.microsoft.com/office/powerpoint/2010/main" val="414122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978F-F8C4-3404-C8C9-CC3D8A3D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6DDD6-EF48-0435-6420-E75C80074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endParaRPr lang="en-US" b="1" dirty="0"/>
          </a:p>
          <a:p>
            <a:pPr marL="36900" indent="0">
              <a:buNone/>
            </a:pPr>
            <a:endParaRPr lang="en-US" b="1" dirty="0"/>
          </a:p>
          <a:p>
            <a:pPr marL="36900" indent="0">
              <a:buNone/>
            </a:pPr>
            <a:r>
              <a:rPr lang="en-US" b="1" dirty="0"/>
              <a:t>Can the coffee shop achieve 2–4% sales growth?</a:t>
            </a:r>
            <a:endParaRPr lang="en-US" dirty="0"/>
          </a:p>
          <a:p>
            <a:r>
              <a:rPr lang="en-US" dirty="0"/>
              <a:t>Budget planning for 2026 </a:t>
            </a:r>
          </a:p>
          <a:p>
            <a:r>
              <a:rPr lang="en-US" dirty="0"/>
              <a:t>Need realistic sales expectations </a:t>
            </a:r>
          </a:p>
          <a:p>
            <a:r>
              <a:rPr lang="en-US" dirty="0"/>
              <a:t>Data-driven decision required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668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EB90-61E2-B5AB-96D9-A8CA0F6E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C43B-CC4F-75F3-B6A0-82A71BE04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Source: Kaggle</a:t>
            </a:r>
          </a:p>
          <a:p>
            <a:r>
              <a:rPr lang="en-US" dirty="0"/>
              <a:t>March 2024 – March 2025</a:t>
            </a:r>
          </a:p>
          <a:p>
            <a:r>
              <a:rPr lang="en-US" dirty="0"/>
              <a:t>Transaction-level data</a:t>
            </a:r>
          </a:p>
          <a:p>
            <a:r>
              <a:rPr lang="en-US" dirty="0"/>
              <a:t>Target: Revenue per transaction</a:t>
            </a:r>
          </a:p>
        </p:txBody>
      </p:sp>
    </p:spTree>
    <p:extLst>
      <p:ext uri="{BB962C8B-B14F-4D97-AF65-F5344CB8AC3E}">
        <p14:creationId xmlns:p14="http://schemas.microsoft.com/office/powerpoint/2010/main" val="232531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4733-D101-E684-A01E-77F8F141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4296-582B-5040-6B93-82504FC78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endParaRPr lang="en-US" dirty="0"/>
          </a:p>
          <a:p>
            <a:r>
              <a:rPr lang="en-US" dirty="0"/>
              <a:t>Data Wrangling</a:t>
            </a:r>
          </a:p>
          <a:p>
            <a:r>
              <a:rPr lang="en-US" dirty="0"/>
              <a:t>EDA</a:t>
            </a:r>
          </a:p>
          <a:p>
            <a:r>
              <a:rPr lang="en-US" dirty="0"/>
              <a:t>Feature Engineering</a:t>
            </a:r>
          </a:p>
          <a:p>
            <a:r>
              <a:rPr lang="en-US" dirty="0"/>
              <a:t>Modeling</a:t>
            </a:r>
          </a:p>
          <a:p>
            <a:r>
              <a:rPr lang="en-US" dirty="0"/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33329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1622-C655-5DCE-1C8D-6FCE4FA00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14875"/>
            <a:ext cx="10353762" cy="970450"/>
          </a:xfrm>
        </p:spPr>
        <p:txBody>
          <a:bodyPr/>
          <a:lstStyle/>
          <a:p>
            <a:r>
              <a:rPr lang="en-US" dirty="0"/>
              <a:t>Revenue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239A-8D07-E04E-F840-6A8FE615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175" y="5578392"/>
            <a:ext cx="7486650" cy="1314450"/>
          </a:xfrm>
        </p:spPr>
        <p:txBody>
          <a:bodyPr>
            <a:normAutofit/>
          </a:bodyPr>
          <a:lstStyle/>
          <a:p>
            <a:r>
              <a:rPr lang="en-US" dirty="0"/>
              <a:t>Most transactions are moderate</a:t>
            </a:r>
          </a:p>
          <a:p>
            <a:r>
              <a:rPr lang="en-US" dirty="0"/>
              <a:t>High-value drinks drive revenue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A5B42-F645-D7CA-2A25-0A09A3BC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485" y="1290955"/>
            <a:ext cx="6209030" cy="412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206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77BEE-DD64-FCBE-598F-BA714DB36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65474"/>
            <a:ext cx="10353762" cy="970450"/>
          </a:xfrm>
        </p:spPr>
        <p:txBody>
          <a:bodyPr/>
          <a:lstStyle/>
          <a:p>
            <a:r>
              <a:rPr lang="en-US" dirty="0"/>
              <a:t>Sales by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3C36A-37B0-3844-291C-15BF3186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3175" y="5848349"/>
            <a:ext cx="7151222" cy="3915083"/>
          </a:xfrm>
        </p:spPr>
        <p:txBody>
          <a:bodyPr/>
          <a:lstStyle/>
          <a:p>
            <a:r>
              <a:rPr lang="en-US" dirty="0"/>
              <a:t>Lattes, Americano with Milk and Cappuccinos drive revenue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C7F69D-825E-70D6-9F4B-117623367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380" y="1235924"/>
            <a:ext cx="6681153" cy="420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2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635B1-D6DF-D0E9-2F5F-A9FD5984C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6225"/>
            <a:ext cx="10353762" cy="970450"/>
          </a:xfrm>
        </p:spPr>
        <p:txBody>
          <a:bodyPr/>
          <a:lstStyle/>
          <a:p>
            <a:r>
              <a:rPr lang="en-US" dirty="0"/>
              <a:t>Time-Based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26DF-E789-FF25-E9F5-9AC7B2C8C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1900" y="6010275"/>
            <a:ext cx="6076432" cy="628650"/>
          </a:xfrm>
        </p:spPr>
        <p:txBody>
          <a:bodyPr/>
          <a:lstStyle/>
          <a:p>
            <a:r>
              <a:rPr lang="en-US" dirty="0"/>
              <a:t>Peak: Morning → Early Afternoon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C6AE3-7F5F-6B64-CF61-68DC4E0AB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67" y="1195879"/>
            <a:ext cx="5759133" cy="465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35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D5E0-719C-6715-E728-F0C3BCEE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24375"/>
            <a:ext cx="10353762" cy="970450"/>
          </a:xfrm>
        </p:spPr>
        <p:txBody>
          <a:bodyPr/>
          <a:lstStyle/>
          <a:p>
            <a:r>
              <a:rPr lang="en-US" dirty="0"/>
              <a:t>Monthly Revenue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5BC97-AF29-82E7-3D8F-EF4B5E8F4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5907700"/>
            <a:ext cx="5924032" cy="970450"/>
          </a:xfrm>
        </p:spPr>
        <p:txBody>
          <a:bodyPr/>
          <a:lstStyle/>
          <a:p>
            <a:r>
              <a:rPr lang="en-US" dirty="0"/>
              <a:t>Seasonal variation exists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98A1C-7BBC-1BEC-A42C-DE86F0062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831" y="1094825"/>
            <a:ext cx="8542338" cy="462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67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5089C-E9C0-DD73-2689-11BCF3F9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7084-720D-D2B6-9ABE-0661F4012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775" y="2143125"/>
            <a:ext cx="9029182" cy="3648075"/>
          </a:xfrm>
        </p:spPr>
        <p:txBody>
          <a:bodyPr/>
          <a:lstStyle/>
          <a:p>
            <a:r>
              <a:rPr lang="en-US" dirty="0"/>
              <a:t>Linear Regression</a:t>
            </a:r>
          </a:p>
          <a:p>
            <a:r>
              <a:rPr lang="en-US" dirty="0"/>
              <a:t>Ridge Regression</a:t>
            </a:r>
          </a:p>
          <a:p>
            <a:r>
              <a:rPr lang="en-US" dirty="0"/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1120254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43BE-25F9-069D-663F-5E461823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47650"/>
            <a:ext cx="10353762" cy="970450"/>
          </a:xfrm>
        </p:spPr>
        <p:txBody>
          <a:bodyPr/>
          <a:lstStyle/>
          <a:p>
            <a:r>
              <a:rPr lang="en-US" dirty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550F1-75A7-A1F9-7A8F-A717A3ECC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1025" y="5953125"/>
            <a:ext cx="6876532" cy="780500"/>
          </a:xfrm>
        </p:spPr>
        <p:txBody>
          <a:bodyPr/>
          <a:lstStyle/>
          <a:p>
            <a:r>
              <a:rPr lang="en-US" dirty="0"/>
              <a:t>Linear = best choice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2202A-81C8-1942-3CD0-C54C40944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305" y="1218100"/>
            <a:ext cx="6306820" cy="457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88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BB6F-18BA-DC6C-0F53-96007A93B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vs Growth Target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C43AA3-B0BE-EAF2-B7EA-4C0C9DCDDA84}"/>
              </a:ext>
            </a:extLst>
          </p:cNvPr>
          <p:cNvSpPr txBox="1">
            <a:spLocks/>
          </p:cNvSpPr>
          <p:nvPr/>
        </p:nvSpPr>
        <p:spPr>
          <a:xfrm>
            <a:off x="2924175" y="1852612"/>
            <a:ext cx="5943082" cy="12477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21E2F3-8429-E3DC-B491-C31252849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775341"/>
              </p:ext>
            </p:extLst>
          </p:nvPr>
        </p:nvGraphicFramePr>
        <p:xfrm>
          <a:off x="3296803" y="1933478"/>
          <a:ext cx="5570454" cy="2047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7729">
                  <a:extLst>
                    <a:ext uri="{9D8B030D-6E8A-4147-A177-3AD203B41FA5}">
                      <a16:colId xmlns:a16="http://schemas.microsoft.com/office/drawing/2014/main" val="2947178791"/>
                    </a:ext>
                  </a:extLst>
                </a:gridCol>
                <a:gridCol w="1612725">
                  <a:extLst>
                    <a:ext uri="{9D8B030D-6E8A-4147-A177-3AD203B41FA5}">
                      <a16:colId xmlns:a16="http://schemas.microsoft.com/office/drawing/2014/main" val="4137662516"/>
                    </a:ext>
                  </a:extLst>
                </a:gridCol>
              </a:tblGrid>
              <a:tr h="4258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Value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3951696"/>
                  </a:ext>
                </a:extLst>
              </a:tr>
              <a:tr h="388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Current </a:t>
                      </a:r>
                      <a:r>
                        <a:rPr lang="en-US" sz="2000" dirty="0"/>
                        <a:t>Avg Monthly Revenue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$8,634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6936523"/>
                  </a:ext>
                </a:extLst>
              </a:tr>
              <a:tr h="381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Predicted </a:t>
                      </a:r>
                      <a:r>
                        <a:rPr lang="en-US" sz="2000" b="1" dirty="0"/>
                        <a:t>Monthly Revenue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$8,636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6915325"/>
                  </a:ext>
                </a:extLst>
              </a:tr>
              <a:tr h="4258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dirty="0"/>
                        <a:t>Target (2% increase)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$8,807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6854607"/>
                  </a:ext>
                </a:extLst>
              </a:tr>
              <a:tr h="4258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dirty="0"/>
                        <a:t>Target (4% increase)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$8,980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9963046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98530C-5467-D049-6D10-0E15AB958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645" y="6248400"/>
            <a:ext cx="10353762" cy="405875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328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25019-2008-CCA1-4562-DA16D5B4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F5332-F436-95C7-FCC1-6F0184EE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149" y="2200275"/>
            <a:ext cx="9686407" cy="3590925"/>
          </a:xfrm>
        </p:spPr>
        <p:txBody>
          <a:bodyPr/>
          <a:lstStyle/>
          <a:p>
            <a:r>
              <a:rPr lang="en-US" dirty="0"/>
              <a:t>Growth is achievable—with action</a:t>
            </a:r>
          </a:p>
          <a:p>
            <a:pPr lvl="1"/>
            <a:r>
              <a:rPr lang="en-US" dirty="0"/>
              <a:t>Promote high-value drinks</a:t>
            </a:r>
          </a:p>
          <a:p>
            <a:pPr lvl="1"/>
            <a:r>
              <a:rPr lang="en-US" dirty="0"/>
              <a:t>Optimize peak hours</a:t>
            </a:r>
          </a:p>
          <a:p>
            <a:pPr lvl="1"/>
            <a:r>
              <a:rPr lang="en-US" dirty="0"/>
              <a:t>Address seasonal dips</a:t>
            </a:r>
          </a:p>
          <a:p>
            <a:pPr lvl="1"/>
            <a:r>
              <a:rPr lang="en-US" dirty="0"/>
              <a:t>Only ~$170–$340/month increase needed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143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CA60-1CC2-ECF3-247B-B6A3241B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5B370-E4FB-5B4B-0BDC-3AA68F8A2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49" y="2381250"/>
            <a:ext cx="9457807" cy="3409950"/>
          </a:xfrm>
        </p:spPr>
        <p:txBody>
          <a:bodyPr/>
          <a:lstStyle/>
          <a:p>
            <a:r>
              <a:rPr lang="en-US" dirty="0"/>
              <a:t>Time series forecasting</a:t>
            </a:r>
          </a:p>
          <a:p>
            <a:r>
              <a:rPr lang="en-US" dirty="0"/>
              <a:t>Customer analysis</a:t>
            </a:r>
          </a:p>
          <a:p>
            <a:r>
              <a:rPr lang="en-US" dirty="0"/>
              <a:t>Pricing strategy</a:t>
            </a:r>
          </a:p>
        </p:txBody>
      </p:sp>
    </p:spTree>
    <p:extLst>
      <p:ext uri="{BB962C8B-B14F-4D97-AF65-F5344CB8AC3E}">
        <p14:creationId xmlns:p14="http://schemas.microsoft.com/office/powerpoint/2010/main" val="14172749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288</TotalTime>
  <Words>931</Words>
  <Application>Microsoft Office PowerPoint</Application>
  <PresentationFormat>Widescreen</PresentationFormat>
  <Paragraphs>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Calisto MT</vt:lpstr>
      <vt:lpstr>Wingdings 2</vt:lpstr>
      <vt:lpstr>Slate</vt:lpstr>
      <vt:lpstr>Coffee Shop Sales Forecasting &amp; Growth Analysis</vt:lpstr>
      <vt:lpstr>Business Problem</vt:lpstr>
      <vt:lpstr>Dataset</vt:lpstr>
      <vt:lpstr>Approach</vt:lpstr>
      <vt:lpstr>Revenue Distribution</vt:lpstr>
      <vt:lpstr>Sales by Product</vt:lpstr>
      <vt:lpstr>Time-Based Trends</vt:lpstr>
      <vt:lpstr>Monthly Revenue Trend</vt:lpstr>
      <vt:lpstr>Modeling Approach</vt:lpstr>
      <vt:lpstr>Model Performance</vt:lpstr>
      <vt:lpstr>Revenue vs Growth Target</vt:lpstr>
      <vt:lpstr>Final Recommendation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Lee</dc:creator>
  <cp:lastModifiedBy>Peter Lee</cp:lastModifiedBy>
  <cp:revision>19</cp:revision>
  <dcterms:created xsi:type="dcterms:W3CDTF">2026-04-29T21:28:56Z</dcterms:created>
  <dcterms:modified xsi:type="dcterms:W3CDTF">2026-05-02T17:42:09Z</dcterms:modified>
</cp:coreProperties>
</file>